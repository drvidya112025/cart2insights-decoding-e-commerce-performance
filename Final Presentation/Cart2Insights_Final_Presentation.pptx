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2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320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56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581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329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584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28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666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41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740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776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422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332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30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36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31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774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806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345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25" r:id="rId1"/>
    <p:sldLayoutId id="2147484226" r:id="rId2"/>
    <p:sldLayoutId id="2147484227" r:id="rId3"/>
    <p:sldLayoutId id="2147484228" r:id="rId4"/>
    <p:sldLayoutId id="2147484229" r:id="rId5"/>
    <p:sldLayoutId id="2147484230" r:id="rId6"/>
    <p:sldLayoutId id="2147484231" r:id="rId7"/>
    <p:sldLayoutId id="2147484232" r:id="rId8"/>
    <p:sldLayoutId id="2147484233" r:id="rId9"/>
    <p:sldLayoutId id="2147484234" r:id="rId10"/>
    <p:sldLayoutId id="2147484235" r:id="rId11"/>
    <p:sldLayoutId id="2147484236" r:id="rId12"/>
    <p:sldLayoutId id="2147484237" r:id="rId13"/>
    <p:sldLayoutId id="2147484238" r:id="rId14"/>
    <p:sldLayoutId id="2147484239" r:id="rId15"/>
    <p:sldLayoutId id="2147484240" r:id="rId16"/>
    <p:sldLayoutId id="214748424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dirty="0">
                <a:solidFill>
                  <a:srgbClr val="FFFFFF"/>
                </a:solidFill>
                <a:latin typeface="Aptos Display"/>
              </a:rPr>
              <a:t>Cart2Insights</a:t>
            </a:r>
          </a:p>
          <a:p>
            <a:r>
              <a:rPr sz="2500" dirty="0">
                <a:solidFill>
                  <a:srgbClr val="FFD700"/>
                </a:solidFill>
              </a:rPr>
              <a:t>Decoding E-Commerce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4009431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E2E8F0"/>
                </a:solidFill>
              </a:rPr>
              <a:t>Mini </a:t>
            </a:r>
            <a:r>
              <a:rPr sz="2000" b="1" dirty="0">
                <a:solidFill>
                  <a:srgbClr val="E2E8F0"/>
                </a:solidFill>
              </a:rPr>
              <a:t>Project </a:t>
            </a:r>
            <a:r>
              <a:rPr lang="en-US" sz="2000" b="1" dirty="0">
                <a:solidFill>
                  <a:srgbClr val="E2E8F0"/>
                </a:solidFill>
              </a:rPr>
              <a:t>1: </a:t>
            </a:r>
            <a:r>
              <a:rPr sz="2000" b="1" dirty="0">
                <a:solidFill>
                  <a:srgbClr val="E2E8F0"/>
                </a:solidFill>
              </a:rPr>
              <a:t>Final Presentation</a:t>
            </a:r>
          </a:p>
          <a:p>
            <a:r>
              <a:rPr sz="1500" dirty="0"/>
              <a:t>Python • SQL • Data Analytics • </a:t>
            </a:r>
            <a:r>
              <a:rPr sz="1500" dirty="0" err="1"/>
              <a:t>Streamlit</a:t>
            </a:r>
            <a:endParaRPr sz="1500" dirty="0"/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FFFFFF"/>
                </a:solidFill>
              </a:rPr>
              <a:t>Vidya Priya V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Business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dirty="0"/>
              <a:t>• </a:t>
            </a:r>
            <a:r>
              <a:rPr sz="2400" dirty="0"/>
              <a:t>Analyze overall sales and order performance of the e-commerce marketplace.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Examine customer behavior and identify opportunities to increase customer value.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Assess the performance of sellers and products.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Measure delivery performance and pinpoint delayed orders.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Link customer reviews to operational performance.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Translate the analysis into an interactive decision-support dashboard.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2560320" cy="3108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73152" cy="3108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673351"/>
            <a:ext cx="69923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BD5E1"/>
                </a:solidFill>
              </a:rPr>
              <a:t>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75688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D700"/>
                </a:solidFill>
              </a:rPr>
              <a:t>Revenue &amp;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624328"/>
            <a:ext cx="23591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sz="1200" dirty="0"/>
              <a:t>Track sales trends, AOV and </a:t>
            </a:r>
            <a:endParaRPr lang="en-US" sz="1200" dirty="0"/>
          </a:p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sz="1200" dirty="0"/>
              <a:t>category performance.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508760"/>
            <a:ext cx="2560320" cy="3108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0" y="1508760"/>
            <a:ext cx="73152" cy="31089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75887" y="1673351"/>
            <a:ext cx="122982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CBD5E1"/>
                </a:solidFill>
              </a:rPr>
              <a:t>Customers</a:t>
            </a:r>
            <a:endParaRPr sz="1100" b="1" dirty="0">
              <a:solidFill>
                <a:srgbClr val="CBD5E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75887" y="2075688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D700"/>
                </a:solidFill>
              </a:rPr>
              <a:t>Customer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624328"/>
            <a:ext cx="2359941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dirty="0"/>
              <a:t>Analyze purchasing behavior </a:t>
            </a:r>
            <a:endParaRPr lang="en-US" dirty="0"/>
          </a:p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dirty="0"/>
              <a:t>and CLV.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508760"/>
            <a:ext cx="2560320" cy="3108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508760"/>
            <a:ext cx="73152" cy="31089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8" y="1673351"/>
            <a:ext cx="12827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CBD5E1"/>
                </a:solidFill>
              </a:rPr>
              <a:t>Operations</a:t>
            </a:r>
            <a:endParaRPr sz="1100" b="1" dirty="0">
              <a:solidFill>
                <a:srgbClr val="CBD5E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10528" y="2075688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D700"/>
                </a:solidFill>
              </a:rP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624328"/>
            <a:ext cx="25154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sz="1200" dirty="0"/>
              <a:t>Monitor early/on-time, delayed</a:t>
            </a:r>
            <a:endParaRPr lang="en-US" sz="1200" dirty="0"/>
          </a:p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sz="1200" dirty="0"/>
              <a:t> and undelivered orders.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508760"/>
            <a:ext cx="2560320" cy="3108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0" y="1508760"/>
            <a:ext cx="73152" cy="31089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45168" y="1673351"/>
            <a:ext cx="130837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CBD5E1"/>
                </a:solidFill>
              </a:rPr>
              <a:t>Experience</a:t>
            </a:r>
            <a:endParaRPr sz="1100" b="1" dirty="0">
              <a:solidFill>
                <a:srgbClr val="CBD5E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345168" y="2075688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D700"/>
                </a:solidFill>
              </a:rPr>
              <a:t>Reviews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5168" y="2624328"/>
            <a:ext cx="252825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sz="1200" dirty="0"/>
              <a:t>Relate customer satisfaction to </a:t>
            </a:r>
            <a:endParaRPr lang="en-US" sz="1200" dirty="0"/>
          </a:p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sz="1200" dirty="0"/>
              <a:t>delivery and product factors.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Dataset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37744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1645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490472"/>
            <a:ext cx="84670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CBD5E1"/>
                </a:solidFill>
              </a:rPr>
              <a:t>Orders</a:t>
            </a:r>
            <a:endParaRPr sz="1100" b="1" dirty="0">
              <a:solidFill>
                <a:srgbClr val="CBD5E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1247" y="1892807"/>
            <a:ext cx="2011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D700"/>
                </a:solidFill>
              </a:rPr>
              <a:t>99,441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441448"/>
            <a:ext cx="204895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sz="1200" dirty="0"/>
              <a:t>Order-level transaction </a:t>
            </a:r>
            <a:endParaRPr lang="en-US" sz="1200" dirty="0"/>
          </a:p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sz="1200" dirty="0"/>
              <a:t>and delivery information.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325880"/>
            <a:ext cx="237744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0" y="1325880"/>
            <a:ext cx="73152" cy="1645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01568" y="1490472"/>
            <a:ext cx="114807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CBD5E1"/>
                </a:solidFill>
              </a:rPr>
              <a:t>Order </a:t>
            </a:r>
            <a:r>
              <a:rPr sz="1600" b="1" dirty="0">
                <a:solidFill>
                  <a:srgbClr val="CBD5E1"/>
                </a:solidFill>
              </a:rPr>
              <a:t>Items</a:t>
            </a:r>
            <a:endParaRPr sz="1100" b="1" dirty="0">
              <a:solidFill>
                <a:srgbClr val="CBD5E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01568" y="1892807"/>
            <a:ext cx="2011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D700"/>
                </a:solidFill>
              </a:rPr>
              <a:t>112,650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441448"/>
            <a:ext cx="175240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sz="1200" dirty="0"/>
              <a:t>Product, price and </a:t>
            </a:r>
            <a:endParaRPr lang="en-US" sz="1200" dirty="0"/>
          </a:p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sz="1200" dirty="0"/>
              <a:t>freight 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325880"/>
            <a:ext cx="237744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60720" y="1325880"/>
            <a:ext cx="73152" cy="164592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61888" y="1490472"/>
            <a:ext cx="122982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CBD5E1"/>
                </a:solidFill>
              </a:rPr>
              <a:t>Customers</a:t>
            </a:r>
            <a:endParaRPr sz="1100" b="1" dirty="0">
              <a:solidFill>
                <a:srgbClr val="CBD5E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61888" y="1892807"/>
            <a:ext cx="2011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D700"/>
                </a:solidFill>
              </a:rPr>
              <a:t>99,441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2441448"/>
            <a:ext cx="195758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sz="1200" dirty="0"/>
              <a:t>Customer identifiers </a:t>
            </a:r>
            <a:endParaRPr lang="en-US" sz="1200" dirty="0"/>
          </a:p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sz="1200" dirty="0"/>
              <a:t>and location details.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325880"/>
            <a:ext cx="237744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21040" y="1325880"/>
            <a:ext cx="73152" cy="16459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22208" y="1490472"/>
            <a:ext cx="103906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CBD5E1"/>
                </a:solidFill>
              </a:rPr>
              <a:t>Products</a:t>
            </a:r>
            <a:endParaRPr sz="1100" b="1" dirty="0">
              <a:solidFill>
                <a:srgbClr val="CBD5E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22208" y="1892807"/>
            <a:ext cx="2011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D700"/>
                </a:solidFill>
              </a:rPr>
              <a:t>32,951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2441448"/>
            <a:ext cx="202972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sz="1200" dirty="0"/>
              <a:t>Product dimensions and </a:t>
            </a:r>
            <a:endParaRPr lang="en-US" sz="1200" dirty="0"/>
          </a:p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sz="1200" dirty="0"/>
              <a:t>category information.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429000"/>
            <a:ext cx="10515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The Olist </a:t>
            </a:r>
            <a:r>
              <a:rPr sz="2400" dirty="0" err="1"/>
              <a:t>dataset</a:t>
            </a:r>
            <a:r>
              <a:rPr sz="2400" dirty="0"/>
              <a:t> comprises customers, geolocation, orders, order items, payments, reviews, products, sellers and category translations.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Data preparation covered missing-value treatment, invalid-value checks, date-consistency validation and outlier analysis.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Cleaned datasets were prepared for Python analysis and SQL integration.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Data Cleaning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• </a:t>
            </a:r>
            <a:r>
              <a:rPr sz="2400" dirty="0"/>
              <a:t>Screened for duplicate, missing and inconsistent records.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Validated payment and installment values.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Verified chronological consistency of approval, carrier and delivery dates.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Derived delivery-performance categories: Early / On Time, Delayed and Not Delivered.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Created missing-value indicators and product-related analytical features.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Detected outliers in price, freight, payment value, installments and product dimensions.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Produced cleaned datasets for EDA, SQL and dashboard reporting.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Feature Engineering &amp; Statistical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• </a:t>
            </a:r>
            <a:r>
              <a:rPr sz="2400" dirty="0"/>
              <a:t>Derived delivery-duration and delivery-performance categories.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Built customer-level purchasing metrics to support customer-value analysis.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Created product-dimension and data-quality features.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Applied dimensionality-reduction techniques to examine product-feature structure.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RFE retained </a:t>
            </a:r>
            <a:r>
              <a:rPr sz="2400" dirty="0" err="1"/>
              <a:t>product_height_cm</a:t>
            </a:r>
            <a:r>
              <a:rPr sz="2400" dirty="0"/>
              <a:t> and </a:t>
            </a:r>
            <a:r>
              <a:rPr sz="2400" dirty="0" err="1"/>
              <a:t>product_width_cm</a:t>
            </a:r>
            <a:r>
              <a:rPr sz="2400" dirty="0"/>
              <a:t> as key product dimensions.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The first two PCA components explained approximately 80.03% of the variance.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LDA and autoencoders were also evaluated for lower-dimensional representation.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SQL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515600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A MySQL database stores and supports analysis of the cleaned project data.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Python connects to MySQL through a reusable database and query layer.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Tables were created and populated from the cleaned datasets.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Primary- and foreign-key relationships enable structured analysis.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SQL queries compute KPIs such as revenue, orders, customers, sellers, AOV and review metrics.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Weekly SQL reporting is integrated into the </a:t>
            </a:r>
            <a:r>
              <a:rPr sz="2400" dirty="0" err="1"/>
              <a:t>Streamlit</a:t>
            </a:r>
            <a:r>
              <a:rPr sz="2400" dirty="0"/>
              <a:t> application.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Delivery Performance — Key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274320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20574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149432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CBD5E1"/>
                </a:solidFill>
              </a:rPr>
              <a:t>Early / On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84248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D700"/>
                </a:solidFill>
              </a:rPr>
              <a:t>88,649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532888"/>
            <a:ext cx="221887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sz="1200" dirty="0"/>
              <a:t>Orders delivered early or </a:t>
            </a:r>
            <a:endParaRPr lang="en-US" sz="1200" dirty="0"/>
          </a:p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sz="1200" dirty="0"/>
              <a:t>on time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1417320"/>
            <a:ext cx="274320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703320" y="1417320"/>
            <a:ext cx="73152" cy="2057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86200" y="1552920"/>
            <a:ext cx="92525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CBD5E1"/>
                </a:solidFill>
              </a:rPr>
              <a:t>Delayed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7" y="1984248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D700"/>
                </a:solidFill>
              </a:rPr>
              <a:t>7,827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4487" y="2532888"/>
            <a:ext cx="231024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sz="1200" dirty="0"/>
              <a:t>Orders delivered late.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1417320"/>
            <a:ext cx="274320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20840" y="1417320"/>
            <a:ext cx="73152" cy="20574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22007" y="1581912"/>
            <a:ext cx="13724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BD5E1"/>
                </a:solidFill>
              </a:rPr>
              <a:t>Not Delivered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7" y="1984248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D700"/>
                </a:solidFill>
              </a:rPr>
              <a:t>2,965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2007" y="2532888"/>
            <a:ext cx="267573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sz="1200" dirty="0"/>
              <a:t>Orders not delivered.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77639"/>
            <a:ext cx="1033272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360 orders were delivered more than 30 days late.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47 orders were delivered more than 90 days late.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Delivery exceptions should be tracked by seller, carrier, region and time period.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Date-quality validation is essential before operational KPIs inform decisions.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Customer &amp; Seller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• </a:t>
            </a:r>
            <a:r>
              <a:rPr sz="2400" dirty="0"/>
              <a:t>Order history enables customer segmentation by purchasing behavior and lifetime value.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Combining review scores with delivery and product data reveals drivers of customer experience.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Sellers can be benchmarked on order volume, revenue, delivery performance and review metrics.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High-value customers are strong candidates for targeted retention campaigns.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Recurring seller or product issues can be tracked through a business scorecard.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Streamlit Dashboard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5156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dirty="0"/>
              <a:t>• </a:t>
            </a:r>
            <a:r>
              <a:rPr sz="2400" dirty="0"/>
              <a:t>Sales Analysis — revenue, orders and sales trends.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Customer Analysis — customer behavior and value metrics.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Seller &amp; Product — seller and product performance.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Delivery — delivery status and operational performance.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Customer Experience — review and satisfaction analysis.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Data Tables — detailed analytical data.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CSV Reports — downloadable business reports.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Weekly SQL Report — recurring SQL-based reporting.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Dashboard KPI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251460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73152" cy="1645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399032"/>
            <a:ext cx="95090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CBD5E1"/>
                </a:solidFill>
              </a:rPr>
              <a:t>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01368"/>
            <a:ext cx="139493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sz="1200"/>
              <a:t>Total sales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234440"/>
            <a:ext cx="251460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29000" y="1234440"/>
            <a:ext cx="73152" cy="1645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0168" y="1399032"/>
            <a:ext cx="76335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CBD5E1"/>
                </a:solidFill>
              </a:rPr>
              <a:t>Orders</a:t>
            </a:r>
            <a:endParaRPr sz="1100" b="1" dirty="0">
              <a:solidFill>
                <a:srgbClr val="CBD5E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30168" y="1801368"/>
            <a:ext cx="147027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dirty="0"/>
              <a:t>Total order </a:t>
            </a:r>
            <a:r>
              <a:rPr sz="1200" dirty="0"/>
              <a:t>volume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251460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73152" cy="164592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399032"/>
            <a:ext cx="59343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CBD5E1"/>
                </a:solidFill>
              </a:rPr>
              <a:t>AOV</a:t>
            </a:r>
            <a:endParaRPr sz="1100" b="1" dirty="0">
              <a:solidFill>
                <a:srgbClr val="CBD5E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1801368"/>
            <a:ext cx="164660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dirty="0"/>
              <a:t>Average Order </a:t>
            </a:r>
            <a:r>
              <a:rPr sz="1200" dirty="0"/>
              <a:t>Value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9006839" y="1234440"/>
            <a:ext cx="251460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06839" y="1234440"/>
            <a:ext cx="73152" cy="16459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08007" y="1399032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CBD5E1"/>
                </a:solidFill>
              </a:rPr>
              <a:t>CLV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7" y="1801368"/>
            <a:ext cx="18325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dirty="0"/>
              <a:t>Customer Lifetime </a:t>
            </a:r>
            <a:r>
              <a:rPr sz="1200" dirty="0"/>
              <a:t>Value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640080" y="3291840"/>
            <a:ext cx="251460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291840"/>
            <a:ext cx="73152" cy="1645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3456432"/>
            <a:ext cx="109998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CBD5E1"/>
                </a:solidFill>
              </a:rPr>
              <a:t>Customers</a:t>
            </a:r>
            <a:endParaRPr sz="1100" b="1" dirty="0">
              <a:solidFill>
                <a:srgbClr val="CBD5E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41247" y="3858768"/>
            <a:ext cx="173637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dirty="0"/>
              <a:t>Unique </a:t>
            </a:r>
            <a:r>
              <a:rPr sz="1200" dirty="0"/>
              <a:t>customer</a:t>
            </a:r>
            <a:r>
              <a:rPr dirty="0"/>
              <a:t> base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3291840"/>
            <a:ext cx="251460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29000" y="3291840"/>
            <a:ext cx="73152" cy="1645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30168" y="3456432"/>
            <a:ext cx="73129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CBD5E1"/>
                </a:solidFill>
              </a:rPr>
              <a:t>Sellers</a:t>
            </a:r>
            <a:endParaRPr sz="1100" b="1" dirty="0">
              <a:solidFill>
                <a:srgbClr val="CBD5E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30168" y="3858768"/>
            <a:ext cx="13692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dirty="0"/>
              <a:t>Active </a:t>
            </a:r>
            <a:r>
              <a:rPr sz="1200" dirty="0"/>
              <a:t>seller</a:t>
            </a:r>
            <a:r>
              <a:rPr dirty="0"/>
              <a:t> base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291840"/>
            <a:ext cx="251460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17920" y="3291840"/>
            <a:ext cx="73152" cy="164592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19088" y="3456432"/>
            <a:ext cx="88678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CBD5E1"/>
                </a:solidFill>
              </a:rPr>
              <a:t>Reviews</a:t>
            </a:r>
            <a:endParaRPr sz="1100" b="1" dirty="0">
              <a:solidFill>
                <a:srgbClr val="CBD5E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19088" y="3858768"/>
            <a:ext cx="169950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sz="1200" dirty="0"/>
              <a:t>Average</a:t>
            </a:r>
            <a:r>
              <a:rPr dirty="0"/>
              <a:t> review score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06839" y="3291840"/>
            <a:ext cx="251460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006839" y="3291840"/>
            <a:ext cx="73152" cy="16459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08007" y="3456432"/>
            <a:ext cx="88998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CBD5E1"/>
                </a:solidFill>
              </a:rPr>
              <a:t>Delivery</a:t>
            </a:r>
            <a:endParaRPr sz="1100" b="1" dirty="0">
              <a:solidFill>
                <a:srgbClr val="CBD5E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208007" y="3858768"/>
            <a:ext cx="198964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sz="1200" dirty="0"/>
              <a:t>Operational</a:t>
            </a:r>
            <a:r>
              <a:rPr dirty="0"/>
              <a:t> performance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Key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Delivery performance is a key operational driver and warrants continuous monitoring.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Extreme delays form a small but critical exception group for root-cause analysis.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Customer reviews link the customer experience to delivery, product and seller factors.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Customer-level metrics enable targeted retention in place of uniform promotions.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Seller and product comparisons provide a basis for operational improvement and monitoring.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515600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sz="2000" dirty="0"/>
              <a:t>• Establish delivery-performance monitoring by seller, carrier and region.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sz="2000" dirty="0"/>
              <a:t>• Configure exception alerts for severe delivery delays.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sz="2000" dirty="0"/>
              <a:t>• Link low review scores to delivery, seller and product factors.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sz="2000" dirty="0"/>
              <a:t>• Develop seller performance scorecards.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sz="2000" dirty="0"/>
              <a:t>• Segment customers by purchase behavior and CLV.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sz="2000" dirty="0"/>
              <a:t>• Apply targeted discounts and cashback based on customer behavior.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sz="2000" dirty="0"/>
              <a:t>• Monitor product economics using price, freight, demand and reviews.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sz="2000" dirty="0"/>
              <a:t>• Automate data-quality checks before KPI reporting.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sz="2000" dirty="0"/>
              <a:t>• Sustain weekly SQL reporting for trend monitoring.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337560" cy="1737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73152" cy="1737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536192"/>
            <a:ext cx="77457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BD5E1"/>
                </a:solidFill>
              </a:rP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38528"/>
            <a:ext cx="20409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dirty="0"/>
              <a:t>Pandas, </a:t>
            </a:r>
            <a:r>
              <a:rPr sz="1200" dirty="0"/>
              <a:t>NumPy</a:t>
            </a:r>
            <a:r>
              <a:rPr dirty="0"/>
              <a:t>, Scikit-learn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37560" cy="1737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73152" cy="1737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536192"/>
            <a:ext cx="50687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CBD5E1"/>
                </a:solidFill>
              </a:rPr>
              <a:t>SQL</a:t>
            </a:r>
            <a:endParaRPr sz="1100" b="1" dirty="0">
              <a:solidFill>
                <a:srgbClr val="CBD5E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90288" y="1938528"/>
            <a:ext cx="297180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dirty="0"/>
              <a:t>MySQL 8.0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71600"/>
            <a:ext cx="3337560" cy="1737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1371600"/>
            <a:ext cx="73152" cy="17373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3608" y="1536192"/>
            <a:ext cx="126669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CBD5E1"/>
                </a:solidFill>
              </a:rPr>
              <a:t>Visualization</a:t>
            </a:r>
            <a:endParaRPr sz="1100" b="1" dirty="0">
              <a:solidFill>
                <a:srgbClr val="CBD5E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93608" y="1938528"/>
            <a:ext cx="214674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sz="1200" dirty="0"/>
              <a:t>Matplotlib</a:t>
            </a:r>
            <a:r>
              <a:rPr dirty="0"/>
              <a:t> / analytical charts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66160"/>
            <a:ext cx="3337560" cy="1737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566160"/>
            <a:ext cx="73152" cy="17373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730752"/>
            <a:ext cx="114326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CBD5E1"/>
                </a:solidFill>
              </a:rPr>
              <a:t>Dashboard</a:t>
            </a:r>
            <a:endParaRPr sz="1100" b="1" dirty="0">
              <a:solidFill>
                <a:srgbClr val="CBD5E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6968" y="4133087"/>
            <a:ext cx="82426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sz="1200" dirty="0" err="1"/>
              <a:t>Streamlit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4389120" y="3566160"/>
            <a:ext cx="3337560" cy="1737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0" y="3566160"/>
            <a:ext cx="73152" cy="1737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90288" y="3730752"/>
            <a:ext cx="136287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CBD5E1"/>
                </a:solidFill>
              </a:rPr>
              <a:t>Version </a:t>
            </a:r>
            <a:r>
              <a:rPr sz="1400" b="1" dirty="0">
                <a:solidFill>
                  <a:srgbClr val="CBD5E1"/>
                </a:solidFill>
              </a:rPr>
              <a:t>Control</a:t>
            </a:r>
            <a:endParaRPr sz="1100" b="1" dirty="0">
              <a:solidFill>
                <a:srgbClr val="CBD5E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90288" y="4133087"/>
            <a:ext cx="107112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dirty="0"/>
              <a:t>Git &amp; </a:t>
            </a:r>
            <a:r>
              <a:rPr sz="1200" dirty="0"/>
              <a:t>GitHub</a:t>
            </a:r>
            <a:endParaRPr dirty="0"/>
          </a:p>
        </p:txBody>
      </p:sp>
      <p:sp>
        <p:nvSpPr>
          <p:cNvPr id="24" name="Rounded Rectangle 23"/>
          <p:cNvSpPr/>
          <p:nvPr/>
        </p:nvSpPr>
        <p:spPr>
          <a:xfrm>
            <a:off x="8092440" y="3566160"/>
            <a:ext cx="3337560" cy="1737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92440" y="3566160"/>
            <a:ext cx="73152" cy="1737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93608" y="373075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CBD5E1"/>
                </a:solidFill>
              </a:rPr>
              <a:t>Large 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4133087"/>
            <a:ext cx="63350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CBD5E1"/>
                </a:solidFill>
              </a:defRPr>
            </a:pPr>
            <a:r>
              <a:rPr dirty="0"/>
              <a:t>Git </a:t>
            </a:r>
            <a:r>
              <a:rPr sz="1200" dirty="0"/>
              <a:t>LFS</a:t>
            </a:r>
            <a:endParaRPr dirty="0"/>
          </a:p>
        </p:txBody>
      </p:sp>
      <p:sp>
        <p:nvSpPr>
          <p:cNvPr id="28" name="Rectangle 27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Project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515600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Converted raw e-commerce data into cleaned analytical datasets.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Integrated Python analytics with a MySQL database.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Developed reusable SQL queries for business KPIs and reporting.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Built an interactive </a:t>
            </a:r>
            <a:r>
              <a:rPr sz="2400" dirty="0" err="1"/>
              <a:t>Streamlit</a:t>
            </a:r>
            <a:r>
              <a:rPr sz="2400" dirty="0"/>
              <a:t> dashboard for business users.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Derived delivery, customer, seller, product and customer-experience insights.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• Translated analytical findings into actionable business recommendations</a:t>
            </a:r>
            <a:r>
              <a:rPr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Thank You</a:t>
            </a:r>
          </a:p>
          <a:p>
            <a:pPr algn="ctr"/>
            <a:r>
              <a:rPr sz="2000">
                <a:solidFill>
                  <a:srgbClr val="FFD700"/>
                </a:solidFill>
              </a:rPr>
              <a:t>Cart2Insights — Decoding E-Commerce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>
                <a:solidFill>
                  <a:srgbClr val="CBD5E1"/>
                </a:solidFill>
              </a:rPr>
              <a:t>Python • SQL • Analytics • Streamlit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16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13</TotalTime>
  <Words>1011</Words>
  <Application>Microsoft Office PowerPoint</Application>
  <PresentationFormat>Widescreen</PresentationFormat>
  <Paragraphs>174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 Display</vt:lpstr>
      <vt:lpstr>Arial</vt:lpstr>
      <vt:lpstr>Century Gothic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vidya priya</cp:lastModifiedBy>
  <cp:revision>6</cp:revision>
  <dcterms:created xsi:type="dcterms:W3CDTF">2013-01-27T09:14:16Z</dcterms:created>
  <dcterms:modified xsi:type="dcterms:W3CDTF">2026-10-01T05:48:35Z</dcterms:modified>
  <cp:category/>
</cp:coreProperties>
</file>